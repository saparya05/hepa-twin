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51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B6D21-9CD4-4224-9006-70C035584E9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87AEA-2BEB-4807-A7C7-9B8FB7D8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7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Hepa-Twin | Digital Twin Challenge 2026 | Synthetic data, decision support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Hepa-Twin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BFE9E3"/>
                </a:solidFill>
              </a:rPr>
              <a:t>A digital twin for early warning of decompensation in liver cirrhosis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Digital Twin Challenge 2026  |  Happiest Health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 smtClean="0">
                <a:solidFill>
                  <a:srgbClr val="D1D5DB"/>
                </a:solidFill>
              </a:rPr>
              <a:t>Saparya</a:t>
            </a:r>
            <a:r>
              <a:rPr lang="en-US" sz="1400" dirty="0" smtClean="0">
                <a:solidFill>
                  <a:srgbClr val="D1D5DB"/>
                </a:solidFill>
              </a:rPr>
              <a:t> </a:t>
            </a:r>
            <a:r>
              <a:rPr lang="en-US" sz="1400" dirty="0" err="1" smtClean="0">
                <a:solidFill>
                  <a:srgbClr val="D1D5DB"/>
                </a:solidFill>
              </a:rPr>
              <a:t>Jagannath</a:t>
            </a:r>
            <a:r>
              <a:rPr lang="en-US" sz="1400" dirty="0" smtClean="0">
                <a:solidFill>
                  <a:srgbClr val="D1D5DB"/>
                </a:solidFill>
              </a:rPr>
              <a:t> |  </a:t>
            </a:r>
            <a:r>
              <a:rPr lang="en-US" sz="1400" dirty="0" err="1" smtClean="0">
                <a:solidFill>
                  <a:srgbClr val="D1D5DB"/>
                </a:solidFill>
              </a:rPr>
              <a:t>Bharati</a:t>
            </a:r>
            <a:r>
              <a:rPr lang="en-US" sz="1400" dirty="0" smtClean="0">
                <a:solidFill>
                  <a:srgbClr val="D1D5DB"/>
                </a:solidFill>
              </a:rPr>
              <a:t> </a:t>
            </a:r>
            <a:r>
              <a:rPr lang="en-US" sz="1400" dirty="0" err="1" smtClean="0">
                <a:solidFill>
                  <a:srgbClr val="D1D5DB"/>
                </a:solidFill>
              </a:rPr>
              <a:t>Vidyapeeth’s</a:t>
            </a:r>
            <a:r>
              <a:rPr lang="en-US" sz="1400" dirty="0" smtClean="0">
                <a:solidFill>
                  <a:srgbClr val="D1D5DB"/>
                </a:solidFill>
              </a:rPr>
              <a:t> College of Engineering |  </a:t>
            </a:r>
            <a:r>
              <a:rPr lang="en-US" sz="1400" dirty="0">
                <a:solidFill>
                  <a:srgbClr val="D1D5DB"/>
                </a:solidFill>
              </a:rPr>
              <a:t>Solo participant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All data synthetic. Decision support only. Not for clinical use.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problem: patients get worse between visits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Three challenges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Cirrhosis is common in India: alcohol, fatty liver (MASLD), hepatitis B and 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Many patients are diagnosed late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Many live far from a liver specialist and visit only every month or two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Between visits, the doctor knows nothing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34747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Why it is dangerous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36192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 stable patient can suddenly decompensate: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confusion, fluid in the belly, bleeding, serious infection, emergency admission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Our question: can we spot warning signs days earlier, using data a phone or fitness band already records?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Warning </a:t>
            </a:r>
            <a:r>
              <a:rPr lang="en-US" dirty="0"/>
              <a:t>signs a wearable can see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1. Flipped sleep cycle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Awake at night, sleepy by day: early hepatic encephalopathy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13716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2. Falling activity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3619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Fewer steps as the patient gets weaker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4023360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06040"/>
            <a:ext cx="64008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3. Rising resting heart rate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449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Infection, bleeding or dehydration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023360" cy="1371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606040"/>
            <a:ext cx="64008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4. Falling HRV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0449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Body's stress control weakening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Beta-blockers keep the heart rate low and hide signal 3, so the model must know who takes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idea: a digital twin of the patient</a:t>
            </a:r>
          </a:p>
        </p:txBody>
      </p:sp>
      <p:pic>
        <p:nvPicPr>
          <p:cNvPr id="3" name="Image 0" descr="/home/claude/Hepa-Twin/doc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760720" cy="30998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14300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Slow data: medical record, labs, medicines, genetic marker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Fast data: daily steps, heart rate, HRV, sleep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Twin: slow severity plus fast deviation from the patient's OWN normal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Output: 7-day risk, reasons, what-if,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data: all synthetic, built honestly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29260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29260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What I generated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1,200 patients, 150 days each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700 train, 250 test, 250 harder shift group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No Synthea cirrhosis module and no open cirrhosis + wearable dataset, so a custom generator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51760" cy="29260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51560"/>
            <a:ext cx="64008" cy="2926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How events happen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90472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Hidden liver reserve declines slowly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Random shocks build over 3-10 days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Events are drawn by chance from hidden state, not copied from wearables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35% of shocks are silent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29260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64008" cy="29260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Realistic mess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90472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Days the band is not worn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Weekend dips, hospital gaps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Beta-blocker effect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Shift group: more noise, 50% silent shocks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No real patient data is used anywhere (DPDP Act and HIPAA aware).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How </a:t>
            </a:r>
            <a:r>
              <a:rPr lang="en-US" dirty="0"/>
              <a:t>the twin and features work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Twin state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Learns each patient's normal in the first 7 days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Updates that normal slowly, and only on normal days, so a decline is not absorbed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Fast part: smoothed deviation from own normal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Slow part: smoothed MELD-Na severity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34747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87 features, one question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36192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59 wearable features: averages, trends, deviation, sleep-wake inversion score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28 record features: labs, medicines, history, genetic marker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Question: will an event happen in the next 7 days?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The 7 days after an event are excluded (hospital stay)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model: fused, calibrated, explainable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LightGBM, team of 6 models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Split by patient, never by row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Calibrated: 30% risk means about 30%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Disagreement between models gives the uncertainty band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Alerts tuned for at most 1 false alert per patient-month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3474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Explain and simulate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36192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SHAP converted to plain-language reasons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What-if: medicine adherence, steps, sleep regularity, alcohol, beta-blocker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What-if shows learned patterns, not proof of cause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AUROC test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AUPRC test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AUROC shift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Wearable-only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0.724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0.205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0.657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EHR-only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0.746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0.206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0.717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Fused (EHR + wearable)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0.776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0.263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0.717</a:t>
                      </a: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</a:rPr>
              <a:t>0.78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AUROC, final model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998B"/>
                </a:solidFill>
              </a:rPr>
              <a:t>64%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events caught in advance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998B"/>
                </a:solidFill>
              </a:rPr>
              <a:t>4 days</a:t>
            </a:r>
            <a:endParaRPr lang="en-US" sz="2800" dirty="0"/>
          </a:p>
        </p:txBody>
      </p:sp>
      <p:sp>
        <p:nvSpPr>
          <p:cNvPr id="3" name="Text 6"/>
          <p:cNvSpPr txBox="1"/>
          <p:nvPr/>
        </p:nvSpPr>
        <p:spPr>
          <a:xfrm>
            <a:off x="548640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median warning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0.65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false alerts per patient-month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Fusing both streams beats either alone on the main test.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546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Harder shift group: fused only ties EHR-only (0.717); false alerts rise to 1.83 per patient-month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About a third of events missed, partly by design (silent shocks)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Plain accuracy not reported: events are rare (about 7% of days)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Live </a:t>
            </a:r>
            <a:r>
              <a:rPr lang="en-US" dirty="0"/>
              <a:t>demo: what the doctor sees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</a:rPr>
              <a:t>1. Clinic overview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2331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Alerts today, highest risk, average risk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Needs-attention cards: red, amber, green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30-day trend and new alerts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Day slider moves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97280"/>
            <a:ext cx="64008" cy="34747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2. Patient twin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536192"/>
            <a:ext cx="2331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Risk timeline with uncertainty band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Wearables vs own baseline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Alert with plain-language reasons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Reveal ground truth toggle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97280"/>
            <a:ext cx="64008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3. What-if and triage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536192"/>
            <a:ext cx="2331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Sliders re-score the patient instantly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Triage list sorted by risk: who to call first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About page lists limitations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Limitations</a:t>
            </a:r>
            <a:r>
              <a:rPr lang="en-US" dirty="0"/>
              <a:t>, next steps 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514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2514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All data synthetic: method shown, not clinically validated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Circularity risk reduced, not removed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Medical constants are assumptions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What-if is association; real-time is a replay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51460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64008" cy="251460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36192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Test on real anonymised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Re-tune alerts per population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Review with liver specialists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Live wearable feeds, sleep stages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Hepa-Twin: slow hospital data + fast wearable data = a personal twin that warns a week ahead, explains why, and lets the doctor test what-ifs.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7354" y="1703585"/>
            <a:ext cx="3771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472997705"/>
      </p:ext>
    </p:extLst>
  </p:cSld>
  <p:clrMapOvr>
    <a:masterClrMapping/>
  </p:clrMapOvr>
</p:sld>
</file>

<file path=ppt/theme/theme1.xml><?xml version="1.0" encoding="utf-8"?>
<a:theme xmlns:a="http://schemas.openxmlformats.org/drawingml/2006/main" name="HepaTwin">
  <a:themeElements>
    <a:clrScheme name="HepaTwin">
      <a:dk1>
        <a:srgbClr val="1F2937"/>
      </a:dk1>
      <a:lt1>
        <a:srgbClr val="FFFFFF"/>
      </a:lt1>
      <a:dk2>
        <a:srgbClr val="0B3C5D"/>
      </a:dk2>
      <a:lt2>
        <a:srgbClr val="F3F6F9"/>
      </a:lt2>
      <a:accent1>
        <a:srgbClr val="1B998B"/>
      </a:accent1>
      <a:accent2>
        <a:srgbClr val="C0392B"/>
      </a:accent2>
      <a:accent3>
        <a:srgbClr val="F59E0B"/>
      </a:accent3>
      <a:accent4>
        <a:srgbClr val="2563EB"/>
      </a:accent4>
      <a:accent5>
        <a:srgbClr val="6B7280"/>
      </a:accent5>
      <a:accent6>
        <a:srgbClr val="16A34A"/>
      </a:accent6>
      <a:hlink>
        <a:srgbClr val="2563EB"/>
      </a:hlink>
      <a:folHlink>
        <a:srgbClr val="6B7280"/>
      </a:folHlink>
    </a:clrScheme>
    <a:fontScheme name="HepaTw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852</Words>
  <Application>Microsoft Office PowerPoint</Application>
  <PresentationFormat>On-screen Show (16:9)</PresentationFormat>
  <Paragraphs>153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HepaTwin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Hepa-Twin</dc:title>
  <dc:subject>PptxGenJS Presentation</dc:subject>
  <dc:creator>PptxGenJS</dc:creator>
  <cp:lastModifiedBy>abc</cp:lastModifiedBy>
  <cp:revision>5</cp:revision>
  <dcterms:created xsi:type="dcterms:W3CDTF">2026-10-20T12:21:13Z</dcterms:created>
  <dcterms:modified xsi:type="dcterms:W3CDTF">2026-10-24T12:35:55Z</dcterms:modified>
</cp:coreProperties>
</file>